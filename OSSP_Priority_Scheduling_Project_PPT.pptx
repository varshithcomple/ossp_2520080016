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8.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sldIdLst>
    <p:sldId id="256" r:id="rId2"/>
    <p:sldId id="257" r:id="rId3"/>
    <p:sldId id="264" r:id="rId4"/>
    <p:sldId id="269" r:id="rId5"/>
    <p:sldId id="259" r:id="rId6"/>
    <p:sldId id="266" r:id="rId7"/>
    <p:sldId id="270" r:id="rId14"/>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  <Relationship Id="rId14" Type="http://schemas.openxmlformats.org/officeDocument/2006/relationships/slide" Target="slides/slide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9/2/2026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9/2/2026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9/2/2026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Operating system and system programming (25CS2104E)</a:t>
            </a:r>
            <a:br>
              <a:rPr lang="en-US" sz="4000" b="1" dirty="0">
                <a:solidFill>
                  <a:srgbClr val="C00000"/>
                </a:solidFill>
                <a:latin typeface="+mn-lt"/>
              </a:rPr>
            </a:br>
            <a:br>
              <a:rPr lang="en-US" sz="4000" b="1" dirty="0">
                <a:solidFill>
                  <a:srgbClr val="C00000"/>
                </a:solidFill>
                <a:latin typeface="+mn-lt"/>
              </a:rPr>
            </a:br>
            <a:r>
              <a:rPr lang="en-US" sz="3200" b="1" dirty="0">
                <a:solidFill>
                  <a:srgbClr val="C00000"/>
                </a:solidFill>
                <a:latin typeface="+mn-lt"/>
              </a:rPr>
              <a:t>PRIORITY SCHEDULING</a:t>
            </a:r>
          </a:p>
        </p:txBody>
      </p:sp>
      <p:sp>
        <p:nvSpPr>
          <p:cNvPr id="3" name="Subtitle 2"/>
          <p:cNvSpPr>
            <a:spLocks noGrp="1"/>
          </p:cNvSpPr>
          <p:nvPr>
            <p:ph type="subTitle" idx="1"/>
          </p:nvPr>
        </p:nvSpPr>
        <p:spPr>
          <a:xfrm>
            <a:off x="6640015" y="4846321"/>
            <a:ext cx="5384800" cy="1913890"/>
          </a:xfrm>
        </p:spPr>
        <p:txBody>
          <a:bodyPr/>
          <a:lstStyle/>
          <a:p>
            <a:r>
              <a:rPr lang="en-US" dirty="0">
                <a:solidFill>
                  <a:srgbClr val="002060"/>
                </a:solidFill>
              </a:rPr>
              <a:t>Team Members:</a:t>
            </a:r>
          </a:p>
          <a:p>
            <a:r>
              <a:rPr lang="en-US" dirty="0">
                <a:solidFill>
                  <a:srgbClr val="002060"/>
                </a:solidFill>
              </a:rPr>
              <a:t>VARSHITH COMPLE – 2520080016</a:t>
            </a:r>
          </a:p>
          <a:p>
            <a:r>
              <a:rPr lang="en-US" dirty="0">
                <a:solidFill>
                  <a:srgbClr val="002060"/>
                </a:solidFill>
              </a:rPr>
              <a:t>MOHITH KARTHIK – 2520080059</a:t>
            </a:r>
          </a:p>
          <a:p>
            <a:r>
              <a:rPr lang="en-US" dirty="0">
                <a:solidFill>
                  <a:srgbClr val="002060"/>
                </a:solidFill>
              </a:rPr>
              <a:t>SATYA RISHITH - 2520080049</a:t>
            </a:r>
            <a:br>
              <a:rPr lang="en-US" dirty="0">
                <a:solidFill>
                  <a:srgbClr val="002060"/>
                </a:solidFill>
              </a:rPr>
            </a:br>
            <a:r>
              <a:rPr lang="en-US" dirty="0">
                <a:solidFill>
                  <a:srgbClr val="002060"/>
                </a:solidFill>
              </a:rPr>
              <a:t>      </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b="1" dirty="0">
              <a:solidFill>
                <a:schemeClr val="tx1"/>
              </a:solidFill>
            </a:endParaRP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algn="ctr"/>
            <a:endParaRPr lang="en-US" sz="2200" b="1" dirty="0">
              <a:solidFill>
                <a:schemeClr val="tx1"/>
              </a:solidFill>
            </a:endParaRPr>
          </a:p>
          <a:p>
            <a:pPr algn="ctr"/>
            <a:r>
              <a:rPr lang="en-US" sz="2200" b="1" dirty="0">
                <a:solidFill>
                  <a:schemeClr val="tx1"/>
                </a:solidFill>
              </a:rPr>
              <a:t>Raghupathi M</a:t>
            </a:r>
          </a:p>
          <a:p>
            <a:pPr algn="ctr"/>
            <a:r>
              <a:rPr lang="en-US" sz="2400" b="1" dirty="0">
                <a:solidFill>
                  <a:schemeClr val="tx1"/>
                </a:solidFill>
              </a:rPr>
              <a:t>CSE Department</a:t>
            </a:r>
            <a:endParaRPr lang="en-US" sz="2400" dirty="0">
              <a:solidFill>
                <a:schemeClr val="tx1"/>
              </a:solidFill>
            </a:endParaRPr>
          </a:p>
        </p:txBody>
      </p:sp>
      <p:sp>
        <p:nvSpPr>
          <p:cNvPr id="7" name="TextBox 6">
            <a:extLst>
              <a:ext uri="{FF2B5EF4-FFF2-40B4-BE49-F238E27FC236}">
                <a16:creationId xmlns:a16="http://schemas.microsoft.com/office/drawing/2014/main" id="{86B79BAB-0195-236A-70B8-3DECB286B2B5}"/>
              </a:ext>
            </a:extLst>
          </p:cNvPr>
          <p:cNvSpPr txBox="1"/>
          <p:nvPr/>
        </p:nvSpPr>
        <p:spPr>
          <a:xfrm>
            <a:off x="3377272" y="3596988"/>
            <a:ext cx="6093724" cy="584775"/>
          </a:xfrm>
          <a:prstGeom prst="rect">
            <a:avLst/>
          </a:prstGeom>
          <a:noFill/>
        </p:spPr>
        <p:txBody>
          <a:bodyPr wrap="square">
            <a:spAutoFit/>
          </a:bodyPr>
          <a:lstStyle/>
          <a:p>
            <a:pPr algn="ctr"/>
            <a:r>
              <a:rPr lang="en-US" sz="3200" b="1" dirty="0">
                <a:solidFill>
                  <a:schemeClr val="accent1">
                    <a:lumMod val="75000"/>
                  </a:schemeClr>
                </a:solidFill>
                <a:latin typeface="+mn-lt"/>
              </a:rPr>
              <a:t>Review-I</a:t>
            </a:r>
            <a:endParaRPr lang="en-US"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3735253"/>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
        <p:nvSpPr>
          <p:cNvPr id="2" name="Date Placeholder 1">
            <a:extLst>
              <a:ext uri="{FF2B5EF4-FFF2-40B4-BE49-F238E27FC236}">
                <a16:creationId xmlns:a16="http://schemas.microsoft.com/office/drawing/2014/main" id="{821029D6-E146-55B7-6FE6-DD167709DA3C}"/>
              </a:ext>
            </a:extLst>
          </p:cNvPr>
          <p:cNvSpPr>
            <a:spLocks noGrp="1"/>
          </p:cNvSpPr>
          <p:nvPr>
            <p:ph type="dt" sz="half" idx="10"/>
          </p:nvPr>
        </p:nvSpPr>
        <p:spPr/>
        <p:txBody>
          <a:bodyPr/>
          <a:lstStyle/>
          <a:p>
            <a:fld id="{32179801-AD4A-4368-9C25-F8FFDCCA9D13}" type="datetime1">
              <a:rPr lang="en-US" smtClean="0"/>
              <a:t>9/2/2026</a:t>
            </a:fld>
            <a:endParaRPr lang="en-US"/>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20" name="Abstract Body"/>
          <p:cNvSpPr txBox="1"/>
          <p:nvPr/>
        </p:nvSpPr>
        <p:spPr>
          <a:xfrm>
            <a:off x="838200" y="1100000"/>
            <a:ext cx="10515600" cy="5300000"/>
          </a:xfrm>
          <a:prstGeom prst="rect">
            <a:avLst/>
          </a:prstGeom>
          <a:noFill/>
        </p:spPr>
        <p:txBody>
          <a:bodyPr wrap="square" rtlCol="0">
            <a:normAutofit/>
          </a:bodyPr>
          <a:lstStyle/>
          <a:p>
            <a:pPr algn="just"/>
            <a:r>
              <a:rPr lang="en-US" sz="2000" dirty="0"/>
              <a:t>This project develops a Linux-based Priority Scheduling System that demonstrates how an operating system manages multiple processes competing for CPU resources. The main problem addressed is that traditional priority scheduling can cause starvation, where low-priority processes wait for a very long time while higher-priority processes continue to execute. The project focuses on key operating systems and system programming concepts, including CPU scheduling, process creation and management, process synchronization, process priorities, preemption, signals, inter-process communication (IPC), and system calls. The proposed solution is implemented in C on Linux using POSIX/Linux mechanisms such as fork(), exec(), waitpid(), kill(), setpriority(), signals, and pipes. The system creates actual processes, assigns priorities, schedules them according to priority, and uses an aging mechanism to gradually increase the priority of waiting processes to reduce starvation. The expected outcome is a functional command-line priority scheduler that demonstrates real operating-system behavior, calculating and comparing scheduling metrics such as waiting time, turnaround time, response time, CPU utilization, and context switches, providing practical understanding of priority-based CPU scheduling and Linux system programming.</a:t>
            </a:r>
          </a:p>
        </p:txBody>
      </p:sp>
      <p:sp>
        <p:nvSpPr>
          <p:cNvPr id="5" name="Date Placeholder 4">
            <a:extLst>
              <a:ext uri="{FF2B5EF4-FFF2-40B4-BE49-F238E27FC236}">
                <a16:creationId xmlns:a16="http://schemas.microsoft.com/office/drawing/2014/main" id="{AFE0CFDE-CD93-201B-A399-23510E8EDADB}"/>
              </a:ext>
            </a:extLst>
          </p:cNvPr>
          <p:cNvSpPr>
            <a:spLocks noGrp="1"/>
          </p:cNvSpPr>
          <p:nvPr>
            <p:ph type="dt" sz="half" idx="10"/>
          </p:nvPr>
        </p:nvSpPr>
        <p:spPr/>
        <p:txBody>
          <a:bodyPr/>
          <a:lstStyle/>
          <a:p>
            <a:fld id="{35DB7AC3-148D-47E6-92EE-86CA146E5716}" type="datetime1">
              <a:rPr lang="en-US" smtClean="0"/>
              <a:t>9/2/2026</a:t>
            </a:fld>
            <a:endParaRPr lang="en-US"/>
          </a:p>
        </p:txBody>
      </p:sp>
      <p:sp>
        <p:nvSpPr>
          <p:cNvPr id="6" name="Slide Number Placeholder 5">
            <a:extLst>
              <a:ext uri="{FF2B5EF4-FFF2-40B4-BE49-F238E27FC236}">
                <a16:creationId xmlns:a16="http://schemas.microsoft.com/office/drawing/2014/main" id="{E7A097D3-BC04-F1C9-00E9-94B0738C1418}"/>
              </a:ext>
            </a:extLst>
          </p:cNvPr>
          <p:cNvSpPr>
            <a:spLocks noGrp="1"/>
          </p:cNvSpPr>
          <p:nvPr>
            <p:ph type="sldNum" sz="quarter" idx="12"/>
          </p:nvPr>
        </p:nvSpPr>
        <p:spPr/>
        <p:txBody>
          <a:bodyPr/>
          <a:lstStyle/>
          <a:p>
            <a:fld id="{7EED5C5B-9EF4-44F9-8A5E-F9CA765F3D63}"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20" name="Introduction Body"/>
          <p:cNvSpPr txBox="1"/>
          <p:nvPr/>
        </p:nvSpPr>
        <p:spPr>
          <a:xfrm>
            <a:off x="838200" y="1100000"/>
            <a:ext cx="10515600" cy="5300000"/>
          </a:xfrm>
          <a:prstGeom prst="rect">
            <a:avLst/>
          </a:prstGeom>
          <a:noFill/>
        </p:spPr>
        <p:txBody>
          <a:bodyPr wrap="square" rtlCol="0">
            <a:normAutofit/>
          </a:bodyPr>
          <a:lstStyle/>
          <a:p>
            <a:pPr algn="just"/>
            <a:r>
              <a:rPr lang="en-US" sz="2000" dirty="0"/>
              <a:t>Every operating system must decide which of several ready processes gets access to the CPU next, and for how long — this decision is the job of the CPU scheduler. Priority scheduling is one of the most widely used approaches: each process is assigned a priority, and the scheduler always selects the highest-priority ready process to run. While this method is simple and responsive to urgent tasks, it has a well-known weakness known as starvation, where low-priority processes can be indefinitely delayed if a steady stream of higher-priority processes keeps arriving and executing. To study this problem in a practical setting rather than through simulation alone, this project builds a priority scheduler in C on Linux that works with real operating-system processes. It uses actual POSIX and Linux mechanisms — fork() to create processes, exec() to run programs, waitpid() to track their completion, kill() and signals to control execution, setpriority() to assign and adjust priorities, and pipes for inter-process communication — so that the scheduler’s behavior reflects genuine OS-level process management rather than an abstract model. To address starvation directly, the system incorporates an aging mechanism that gradually raises the priority of processes the longer they wait, ensuring that lower-priority work is eventually served without sacrificing the responsiveness that priority scheduling is meant to provide.</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fld id="{35DB7AC3-148D-47E6-92EE-86CA146E5716}" type="datetime1">
              <a:rPr lang="en-US" smtClean="0"/>
              <a:t>9/2/2026</a:t>
            </a:fld>
            <a:endParaRPr lang="en-US"/>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fld id="{7EED5C5B-9EF4-44F9-8A5E-F9CA765F3D63}" type="slidenum">
              <a:rPr lang="en-US" smtClean="0"/>
              <a:t>4</a:t>
            </a:fld>
            <a:endParaRPr lang="en-US"/>
          </a:p>
        </p:txBody>
      </p:sp>
    </p:spTree>
    <p:extLst>
      <p:ext uri="{BB962C8B-B14F-4D97-AF65-F5344CB8AC3E}">
        <p14:creationId xmlns:p14="http://schemas.microsoft.com/office/powerpoint/2010/main" val="401618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graphicFrame>
        <p:nvGraphicFramePr>
          <p:cNvPr id="21" name="Requirements Table"/>
          <p:cNvGraphicFramePr>
            <a:graphicFrameLocks noGrp="1"/>
          </p:cNvGraphicFramePr>
          <p:nvPr/>
        </p:nvGraphicFramePr>
        <p:xfrm>
          <a:off x="838200" y="1150000"/>
          <a:ext cx="10515600" cy="4900000"/>
        </p:xfrm>
        <a:graphic>
          <a:graphicData uri="http://schemas.openxmlformats.org/drawingml/2006/table">
            <a:tbl>
              <a:tblPr firstRow="1" bandRow="1">
                <a:tableStyleId>{5C22544A-7EE6-4342-B048-85BDC9FD1C3A}</a:tableStyleId>
              </a:tblPr>
              <a:tblGrid>
                <a:gridCol w="2628900"/>
                <a:gridCol w="7886700"/>
              </a:tblGrid>
              <a:tr h="450000">
                <a:tc>
                  <a:txBody>
                    <a:bodyPr/>
                    <a:lstStyle/>
                    <a:p>
                      <a:pPr algn="ctr"/>
                      <a:r>
                        <a:rPr lang="en-US" sz="1600" b="1" dirty="0">
                          <a:solidFill>
                            <a:schemeClr val="bg1"/>
                          </a:solidFill>
                        </a:rPr>
                        <a:t>Category</a:t>
                      </a:r>
                    </a:p>
                  </a:txBody>
                  <a:tcPr anchor="ctr">
                    <a:solidFill>
                      <a:srgbClr val="C00000"/>
                    </a:solidFill>
                  </a:tcPr>
                </a:tc>
                <a:tc>
                  <a:txBody>
                    <a:bodyPr/>
                    <a:lstStyle/>
                    <a:p>
                      <a:pPr algn="ctr"/>
                      <a:r>
                        <a:rPr lang="en-US" sz="1600" b="1" dirty="0">
                          <a:solidFill>
                            <a:schemeClr val="bg1"/>
                          </a:solidFill>
                        </a:rPr>
                        <a:t>Requirement</a:t>
                      </a:r>
                    </a:p>
                  </a:txBody>
                  <a:tcPr anchor="ctr">
                    <a:solidFill>
                      <a:srgbClr val="C00000"/>
                    </a:solidFill>
                  </a:tcPr>
                </a:tc>
              </a:tr>
              <a:tr h="450000">
                <a:tc>
                  <a:txBody>
                    <a:bodyPr/>
                    <a:lstStyle/>
                    <a:p>
                      <a:r>
                        <a:rPr lang="en-US" sz="1400" b="1" dirty="0"/>
                        <a:t>Operating System</a:t>
                      </a:r>
                    </a:p>
                  </a:txBody>
                  <a:tcPr anchor="ctr"/>
                </a:tc>
                <a:tc>
                  <a:txBody>
                    <a:bodyPr/>
                    <a:lstStyle/>
                    <a:p>
                      <a:r>
                        <a:rPr lang="en-US" sz="1400" dirty="0"/>
                        <a:t>Linux (Ubuntu 20.04 or later / any POSIX-compliant distribution)</a:t>
                      </a:r>
                    </a:p>
                  </a:txBody>
                  <a:tcPr anchor="ctr"/>
                </a:tc>
              </a:tr>
              <a:tr h="450000">
                <a:tc>
                  <a:txBody>
                    <a:bodyPr/>
                    <a:lstStyle/>
                    <a:p>
                      <a:r>
                        <a:rPr lang="en-US" sz="1400" b="1" dirty="0"/>
                        <a:t>Programming Language</a:t>
                      </a:r>
                    </a:p>
                  </a:txBody>
                  <a:tcPr anchor="ctr"/>
                </a:tc>
                <a:tc>
                  <a:txBody>
                    <a:bodyPr/>
                    <a:lstStyle/>
                    <a:p>
                      <a:r>
                        <a:rPr lang="en-US" sz="1400" dirty="0"/>
                        <a:t>C (C11 standard)</a:t>
                      </a:r>
                    </a:p>
                  </a:txBody>
                  <a:tcPr anchor="ctr"/>
                </a:tc>
              </a:tr>
              <a:tr h="450000">
                <a:tc>
                  <a:txBody>
                    <a:bodyPr/>
                    <a:lstStyle/>
                    <a:p>
                      <a:r>
                        <a:rPr lang="en-US" sz="1400" b="1" dirty="0"/>
                        <a:t>Compiler / Build Tools</a:t>
                      </a:r>
                    </a:p>
                  </a:txBody>
                  <a:tcPr anchor="ctr"/>
                </a:tc>
                <a:tc>
                  <a:txBody>
                    <a:bodyPr/>
                    <a:lstStyle/>
                    <a:p>
                      <a:r>
                        <a:rPr lang="en-US" sz="1400" dirty="0"/>
                        <a:t>GCC, Make</a:t>
                      </a:r>
                    </a:p>
                  </a:txBody>
                  <a:tcPr anchor="ctr"/>
                </a:tc>
              </a:tr>
              <a:tr h="450000">
                <a:tc>
                  <a:txBody>
                    <a:bodyPr/>
                    <a:lstStyle/>
                    <a:p>
                      <a:r>
                        <a:rPr lang="en-US" sz="1400" b="1" dirty="0"/>
                        <a:t>System Libraries / APIs</a:t>
                      </a:r>
                    </a:p>
                  </a:txBody>
                  <a:tcPr anchor="ctr"/>
                </a:tc>
                <a:tc>
                  <a:txBody>
                    <a:bodyPr/>
                    <a:lstStyle/>
                    <a:p>
                      <a:r>
                        <a:rPr lang="en-US" sz="1400" dirty="0"/>
                        <a:t>POSIX/Linux system calls — fork(), exec(), waitpid(), kill(), setpriority(), signal handling, pipes</a:t>
                      </a:r>
                    </a:p>
                  </a:txBody>
                  <a:tcPr anchor="ctr"/>
                </a:tc>
              </a:tr>
              <a:tr h="450000">
                <a:tc>
                  <a:txBody>
                    <a:bodyPr/>
                    <a:lstStyle/>
                    <a:p>
                      <a:r>
                        <a:rPr lang="en-US" sz="1400" b="1" dirty="0"/>
                        <a:t>Development Tools</a:t>
                      </a:r>
                    </a:p>
                  </a:txBody>
                  <a:tcPr anchor="ctr"/>
                </a:tc>
                <a:tc>
                  <a:txBody>
                    <a:bodyPr/>
                    <a:lstStyle/>
                    <a:p>
                      <a:r>
                        <a:rPr lang="en-US" sz="1400" dirty="0"/>
                        <a:t>GDB (debugging), Valgrind (memory checks), strace (system-call tracing)</a:t>
                      </a:r>
                    </a:p>
                  </a:txBody>
                  <a:tcPr anchor="ctr"/>
                </a:tc>
              </a:tr>
              <a:tr h="450000">
                <a:tc>
                  <a:txBody>
                    <a:bodyPr/>
                    <a:lstStyle/>
                    <a:p>
                      <a:r>
                        <a:rPr lang="en-US" sz="1400" b="1" dirty="0"/>
                        <a:t>Processor</a:t>
                      </a:r>
                    </a:p>
                  </a:txBody>
                  <a:tcPr anchor="ctr"/>
                </a:tc>
                <a:tc>
                  <a:txBody>
                    <a:bodyPr/>
                    <a:lstStyle/>
                    <a:p>
                      <a:r>
                        <a:rPr lang="en-US" sz="1400" dirty="0"/>
                        <a:t>Dual-core or higher, x86/x86-64</a:t>
                      </a:r>
                    </a:p>
                  </a:txBody>
                  <a:tcPr anchor="ctr"/>
                </a:tc>
              </a:tr>
              <a:tr h="450000">
                <a:tc>
                  <a:txBody>
                    <a:bodyPr/>
                    <a:lstStyle/>
                    <a:p>
                      <a:r>
                        <a:rPr lang="en-US" sz="1400" b="1" dirty="0"/>
                        <a:t>Memory / Storage</a:t>
                      </a:r>
                    </a:p>
                  </a:txBody>
                  <a:tcPr anchor="ctr"/>
                </a:tc>
                <a:tc>
                  <a:txBody>
                    <a:bodyPr/>
                    <a:lstStyle/>
                    <a:p>
                      <a:r>
                        <a:rPr lang="en-US" sz="1400" dirty="0"/>
                        <a:t>Minimum 2 GB RAM, 1 GB free disk space</a:t>
                      </a:r>
                    </a:p>
                  </a:txBody>
                  <a:tcPr anchor="ctr"/>
                </a:tc>
              </a:tr>
            </a:tbl>
          </a:graphicData>
        </a:graphic>
      </p:graphicFrame>
      <p:sp>
        <p:nvSpPr>
          <p:cNvPr id="3" name="Date Placeholder 2">
            <a:extLst>
              <a:ext uri="{FF2B5EF4-FFF2-40B4-BE49-F238E27FC236}">
                <a16:creationId xmlns:a16="http://schemas.microsoft.com/office/drawing/2014/main" id="{7A4B27F7-CA90-4D59-F334-BDE7693BDAAC}"/>
              </a:ext>
            </a:extLst>
          </p:cNvPr>
          <p:cNvSpPr>
            <a:spLocks noGrp="1"/>
          </p:cNvSpPr>
          <p:nvPr>
            <p:ph type="dt" sz="half" idx="10"/>
          </p:nvPr>
        </p:nvSpPr>
        <p:spPr/>
        <p:txBody>
          <a:bodyPr/>
          <a:lstStyle/>
          <a:p>
            <a:fld id="{FEC03DE9-87EE-417A-AE3E-75342F0B996E}" type="datetime1">
              <a:rPr lang="en-US" smtClean="0"/>
              <a:t>9/2/2026</a:t>
            </a:fld>
            <a:endParaRPr lang="en-US"/>
          </a:p>
        </p:txBody>
      </p:sp>
      <p:sp>
        <p:nvSpPr>
          <p:cNvPr id="6" name="Slide Number Placeholder 5">
            <a:extLst>
              <a:ext uri="{FF2B5EF4-FFF2-40B4-BE49-F238E27FC236}">
                <a16:creationId xmlns:a16="http://schemas.microsoft.com/office/drawing/2014/main" id="{C9563280-B772-867A-6341-08A7DB8CCFB2}"/>
              </a:ext>
            </a:extLst>
          </p:cNvPr>
          <p:cNvSpPr>
            <a:spLocks noGrp="1"/>
          </p:cNvSpPr>
          <p:nvPr>
            <p:ph type="sldNum" sz="quarter" idx="12"/>
          </p:nvPr>
        </p:nvSpPr>
        <p:spPr/>
        <p:txBody>
          <a:bodyPr/>
          <a:lstStyle/>
          <a:p>
            <a:fld id="{7EED5C5B-9EF4-44F9-8A5E-F9CA765F3D63}"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30" name="ArchBox0"/>
          <p:cNvSpPr/>
          <p:nvPr/>
        </p:nvSpPr>
        <p:spPr>
          <a:xfrm>
            <a:off x="838200" y="1750000"/>
            <a:ext cx="1850000" cy="1150000"/>
          </a:xfrm>
          <a:prstGeom prst="roundRect">
            <a:avLst>
              <a:gd name="adj" fmla="val 8000"/>
            </a:avLst>
          </a:prstGeom>
          <a:solidFill>
            <a:srgbClr val="2F2F2F"/>
          </a:solidFill>
          <a:ln w="12700">
            <a:solidFill>
              <a:srgbClr val="C00000"/>
            </a:solidFill>
          </a:ln>
        </p:spPr>
        <p:txBody>
          <a:bodyPr wrap="square" anchor="ctr">
            <a:normAutofit/>
          </a:bodyPr>
          <a:lstStyle/>
          <a:p>
            <a:pPr algn="ctr"/>
            <a:r>
              <a:rPr lang="en-US" sz="1300" b="1" dirty="0">
                <a:solidFill>
                  <a:schemeClr val="bg1"/>
                </a:solidFill>
              </a:rPr>
              <a:t>Process</a:t>
            </a:r>
          </a:p>
          <a:p>
            <a:pPr algn="ctr"/>
            <a:r>
              <a:rPr lang="en-US" sz="1300" b="1" dirty="0">
                <a:solidFill>
                  <a:schemeClr val="bg1"/>
                </a:solidFill>
              </a:rPr>
              <a:t>Generator</a:t>
            </a:r>
          </a:p>
        </p:txBody>
      </p:sp>
      <p:sp>
        <p:nvSpPr>
          <p:cNvPr id="31" name="ArchBox1"/>
          <p:cNvSpPr/>
          <p:nvPr/>
        </p:nvSpPr>
        <p:spPr>
          <a:xfrm>
            <a:off x="2988200" y="1750000"/>
            <a:ext cx="1850000" cy="1150000"/>
          </a:xfrm>
          <a:prstGeom prst="roundRect">
            <a:avLst>
              <a:gd name="adj" fmla="val 8000"/>
            </a:avLst>
          </a:prstGeom>
          <a:solidFill>
            <a:srgbClr val="2F2F2F"/>
          </a:solidFill>
          <a:ln w="12700">
            <a:solidFill>
              <a:srgbClr val="C00000"/>
            </a:solidFill>
          </a:ln>
        </p:spPr>
        <p:txBody>
          <a:bodyPr wrap="square" anchor="ctr">
            <a:normAutofit/>
          </a:bodyPr>
          <a:lstStyle/>
          <a:p>
            <a:pPr algn="ctr"/>
            <a:r>
              <a:rPr lang="en-US" sz="1300" b="1" dirty="0">
                <a:solidFill>
                  <a:schemeClr val="bg1"/>
                </a:solidFill>
              </a:rPr>
              <a:t>Priority</a:t>
            </a:r>
          </a:p>
          <a:p>
            <a:pPr algn="ctr"/>
            <a:r>
              <a:rPr lang="en-US" sz="1300" b="1" dirty="0">
                <a:solidFill>
                  <a:schemeClr val="bg1"/>
                </a:solidFill>
              </a:rPr>
              <a:t>Ready Queue</a:t>
            </a:r>
          </a:p>
        </p:txBody>
      </p:sp>
      <p:sp>
        <p:nvSpPr>
          <p:cNvPr id="32" name="ArchBox2"/>
          <p:cNvSpPr/>
          <p:nvPr/>
        </p:nvSpPr>
        <p:spPr>
          <a:xfrm>
            <a:off x="5138200" y="1750000"/>
            <a:ext cx="1850000" cy="1150000"/>
          </a:xfrm>
          <a:prstGeom prst="roundRect">
            <a:avLst>
              <a:gd name="adj" fmla="val 8000"/>
            </a:avLst>
          </a:prstGeom>
          <a:solidFill>
            <a:srgbClr val="2F2F2F"/>
          </a:solidFill>
          <a:ln w="12700">
            <a:solidFill>
              <a:srgbClr val="C00000"/>
            </a:solidFill>
          </a:ln>
        </p:spPr>
        <p:txBody>
          <a:bodyPr wrap="square" anchor="ctr">
            <a:normAutofit/>
          </a:bodyPr>
          <a:lstStyle/>
          <a:p>
            <a:pPr algn="ctr"/>
            <a:r>
              <a:rPr lang="en-US" sz="1300" b="1" dirty="0">
                <a:solidFill>
                  <a:schemeClr val="bg1"/>
                </a:solidFill>
              </a:rPr>
              <a:t>Scheduler +</a:t>
            </a:r>
          </a:p>
          <a:p>
            <a:pPr algn="ctr"/>
            <a:r>
              <a:rPr lang="en-US" sz="1300" b="1" dirty="0">
                <a:solidFill>
                  <a:schemeClr val="bg1"/>
                </a:solidFill>
              </a:rPr>
              <a:t>Aging Module</a:t>
            </a:r>
          </a:p>
        </p:txBody>
      </p:sp>
      <p:sp>
        <p:nvSpPr>
          <p:cNvPr id="33" name="ArchBox3"/>
          <p:cNvSpPr/>
          <p:nvPr/>
        </p:nvSpPr>
        <p:spPr>
          <a:xfrm>
            <a:off x="7288200" y="1750000"/>
            <a:ext cx="1850000" cy="1150000"/>
          </a:xfrm>
          <a:prstGeom prst="roundRect">
            <a:avLst>
              <a:gd name="adj" fmla="val 8000"/>
            </a:avLst>
          </a:prstGeom>
          <a:solidFill>
            <a:srgbClr val="2F2F2F"/>
          </a:solidFill>
          <a:ln w="12700">
            <a:solidFill>
              <a:srgbClr val="C00000"/>
            </a:solidFill>
          </a:ln>
        </p:spPr>
        <p:txBody>
          <a:bodyPr wrap="square" anchor="ctr">
            <a:normAutofit/>
          </a:bodyPr>
          <a:lstStyle/>
          <a:p>
            <a:pPr algn="ctr"/>
            <a:r>
              <a:rPr lang="en-US" sz="1300" b="1" dirty="0">
                <a:solidFill>
                  <a:schemeClr val="bg1"/>
                </a:solidFill>
              </a:rPr>
              <a:t>CPU</a:t>
            </a:r>
          </a:p>
          <a:p>
            <a:pPr algn="ctr"/>
            <a:r>
              <a:rPr lang="en-US" sz="1300" b="1" dirty="0">
                <a:solidFill>
                  <a:schemeClr val="bg1"/>
                </a:solidFill>
              </a:rPr>
              <a:t>Executor</a:t>
            </a:r>
          </a:p>
        </p:txBody>
      </p:sp>
      <p:sp>
        <p:nvSpPr>
          <p:cNvPr id="34" name="ArchBox4"/>
          <p:cNvSpPr/>
          <p:nvPr/>
        </p:nvSpPr>
        <p:spPr>
          <a:xfrm>
            <a:off x="9438200" y="1750000"/>
            <a:ext cx="1850000" cy="1150000"/>
          </a:xfrm>
          <a:prstGeom prst="roundRect">
            <a:avLst>
              <a:gd name="adj" fmla="val 8000"/>
            </a:avLst>
          </a:prstGeom>
          <a:solidFill>
            <a:srgbClr val="2F2F2F"/>
          </a:solidFill>
          <a:ln w="12700">
            <a:solidFill>
              <a:srgbClr val="C00000"/>
            </a:solidFill>
          </a:ln>
        </p:spPr>
        <p:txBody>
          <a:bodyPr wrap="square" anchor="ctr">
            <a:normAutofit/>
          </a:bodyPr>
          <a:lstStyle/>
          <a:p>
            <a:pPr algn="ctr"/>
            <a:r>
              <a:rPr lang="en-US" sz="1300" b="1" dirty="0">
                <a:solidFill>
                  <a:schemeClr val="bg1"/>
                </a:solidFill>
              </a:rPr>
              <a:t>Metrics</a:t>
            </a:r>
          </a:p>
          <a:p>
            <a:pPr algn="ctr"/>
            <a:r>
              <a:rPr lang="en-US" sz="1300" b="1" dirty="0">
                <a:solidFill>
                  <a:schemeClr val="bg1"/>
                </a:solidFill>
              </a:rPr>
              <a:t>Collector</a:t>
            </a:r>
          </a:p>
        </p:txBody>
      </p:sp>
      <p:sp>
        <p:nvSpPr>
          <p:cNvPr id="35" name="ArchSub0"/>
          <p:cNvSpPr txBox="1"/>
          <p:nvPr/>
        </p:nvSpPr>
        <p:spPr>
          <a:xfrm>
            <a:off x="788200" y="3050000"/>
            <a:ext cx="1950000" cy="900000"/>
          </a:xfrm>
          <a:prstGeom prst="rect">
            <a:avLst/>
          </a:prstGeom>
          <a:noFill/>
        </p:spPr>
        <p:txBody>
          <a:bodyPr wrap="square">
            <a:normAutofit/>
          </a:bodyPr>
          <a:lstStyle/>
          <a:p>
            <a:pPr algn="ctr"/>
            <a:r>
              <a:rPr lang="en-US" sz="1100" dirty="0"/>
              <a:t>fork() creates N processes</a:t>
            </a:r>
          </a:p>
          <a:p>
            <a:pPr algn="ctr"/>
            <a:r>
              <a:rPr lang="en-US" sz="1100" dirty="0"/>
              <a:t>with assigned priorities</a:t>
            </a:r>
          </a:p>
        </p:txBody>
      </p:sp>
      <p:sp>
        <p:nvSpPr>
          <p:cNvPr id="36" name="ArchSub1"/>
          <p:cNvSpPr txBox="1"/>
          <p:nvPr/>
        </p:nvSpPr>
        <p:spPr>
          <a:xfrm>
            <a:off x="2938200" y="3050000"/>
            <a:ext cx="1950000" cy="900000"/>
          </a:xfrm>
          <a:prstGeom prst="rect">
            <a:avLst/>
          </a:prstGeom>
          <a:noFill/>
        </p:spPr>
        <p:txBody>
          <a:bodyPr wrap="square">
            <a:normAutofit/>
          </a:bodyPr>
          <a:lstStyle/>
          <a:p>
            <a:pPr algn="ctr"/>
            <a:r>
              <a:rPr lang="en-US" sz="1100" dirty="0"/>
              <a:t>Processes wait, ordered</a:t>
            </a:r>
          </a:p>
          <a:p>
            <a:pPr algn="ctr"/>
            <a:r>
              <a:rPr lang="en-US" sz="1100" dirty="0"/>
              <a:t>by current priority</a:t>
            </a:r>
          </a:p>
        </p:txBody>
      </p:sp>
      <p:sp>
        <p:nvSpPr>
          <p:cNvPr id="37" name="ArchSub2"/>
          <p:cNvSpPr txBox="1"/>
          <p:nvPr/>
        </p:nvSpPr>
        <p:spPr>
          <a:xfrm>
            <a:off x="5088200" y="3050000"/>
            <a:ext cx="1950000" cy="900000"/>
          </a:xfrm>
          <a:prstGeom prst="rect">
            <a:avLst/>
          </a:prstGeom>
          <a:noFill/>
        </p:spPr>
        <p:txBody>
          <a:bodyPr wrap="square">
            <a:normAutofit/>
          </a:bodyPr>
          <a:lstStyle/>
          <a:p>
            <a:pPr algn="ctr"/>
            <a:r>
              <a:rPr lang="en-US" sz="1100" dirty="0"/>
              <a:t>Picks highest priority;</a:t>
            </a:r>
          </a:p>
          <a:p>
            <a:pPr algn="ctr"/>
            <a:r>
              <a:rPr lang="en-US" sz="1100" dirty="0"/>
              <a:t>ages waiting processes</a:t>
            </a:r>
          </a:p>
        </p:txBody>
      </p:sp>
      <p:sp>
        <p:nvSpPr>
          <p:cNvPr id="38" name="ArchSub3"/>
          <p:cNvSpPr txBox="1"/>
          <p:nvPr/>
        </p:nvSpPr>
        <p:spPr>
          <a:xfrm>
            <a:off x="7238200" y="3050000"/>
            <a:ext cx="1950000" cy="900000"/>
          </a:xfrm>
          <a:prstGeom prst="rect">
            <a:avLst/>
          </a:prstGeom>
          <a:noFill/>
        </p:spPr>
        <p:txBody>
          <a:bodyPr wrap="square">
            <a:normAutofit/>
          </a:bodyPr>
          <a:lstStyle/>
          <a:p>
            <a:pPr algn="ctr"/>
            <a:r>
              <a:rPr lang="en-US" sz="1100" dirty="0"/>
              <a:t>Runs process via</a:t>
            </a:r>
          </a:p>
          <a:p>
            <a:pPr algn="ctr"/>
            <a:r>
              <a:rPr lang="en-US" sz="1100" dirty="0"/>
              <a:t>exec(); tracks time</a:t>
            </a:r>
          </a:p>
        </p:txBody>
      </p:sp>
      <p:sp>
        <p:nvSpPr>
          <p:cNvPr id="39" name="ArchSub4"/>
          <p:cNvSpPr txBox="1"/>
          <p:nvPr/>
        </p:nvSpPr>
        <p:spPr>
          <a:xfrm>
            <a:off x="9388200" y="3050000"/>
            <a:ext cx="1950000" cy="900000"/>
          </a:xfrm>
          <a:prstGeom prst="rect">
            <a:avLst/>
          </a:prstGeom>
          <a:noFill/>
        </p:spPr>
        <p:txBody>
          <a:bodyPr wrap="square">
            <a:normAutofit/>
          </a:bodyPr>
          <a:lstStyle/>
          <a:p>
            <a:pPr algn="ctr"/>
            <a:r>
              <a:rPr lang="en-US" sz="1100" dirty="0"/>
              <a:t>Computes waiting,</a:t>
            </a:r>
          </a:p>
          <a:p>
            <a:pPr algn="ctr"/>
            <a:r>
              <a:rPr lang="en-US" sz="1100" dirty="0"/>
              <a:t>turnaround, response time</a:t>
            </a:r>
          </a:p>
        </p:txBody>
      </p:sp>
      <p:sp>
        <p:nvSpPr>
          <p:cNvPr id="40" name="Arrow0"/>
          <p:cNvSpPr/>
          <p:nvPr/>
        </p:nvSpPr>
        <p:spPr>
          <a:xfrm>
            <a:off x="2688200" y="2200000"/>
            <a:ext cx="300000" cy="250000"/>
          </a:xfrm>
          <a:prstGeom prst="rightArrow">
            <a:avLst/>
          </a:prstGeom>
          <a:solidFill>
            <a:srgbClr val="C00000"/>
          </a:solidFill>
          <a:ln>
            <a:noFill/>
          </a:ln>
        </p:spPr>
        <p:txBody>
          <a:bodyPr/>
          <a:lstStyle/>
          <a:p>
            <a:endParaRPr lang="en-US"/>
          </a:p>
        </p:txBody>
      </p:sp>
      <p:sp>
        <p:nvSpPr>
          <p:cNvPr id="41" name="Arrow1"/>
          <p:cNvSpPr/>
          <p:nvPr/>
        </p:nvSpPr>
        <p:spPr>
          <a:xfrm>
            <a:off x="4838200" y="2200000"/>
            <a:ext cx="300000" cy="250000"/>
          </a:xfrm>
          <a:prstGeom prst="rightArrow">
            <a:avLst/>
          </a:prstGeom>
          <a:solidFill>
            <a:srgbClr val="C00000"/>
          </a:solidFill>
          <a:ln>
            <a:noFill/>
          </a:ln>
        </p:spPr>
        <p:txBody>
          <a:bodyPr/>
          <a:lstStyle/>
          <a:p>
            <a:endParaRPr lang="en-US"/>
          </a:p>
        </p:txBody>
      </p:sp>
      <p:sp>
        <p:nvSpPr>
          <p:cNvPr id="42" name="Arrow2"/>
          <p:cNvSpPr/>
          <p:nvPr/>
        </p:nvSpPr>
        <p:spPr>
          <a:xfrm>
            <a:off x="6988200" y="2200000"/>
            <a:ext cx="300000" cy="250000"/>
          </a:xfrm>
          <a:prstGeom prst="rightArrow">
            <a:avLst/>
          </a:prstGeom>
          <a:solidFill>
            <a:srgbClr val="C00000"/>
          </a:solidFill>
          <a:ln>
            <a:noFill/>
          </a:ln>
        </p:spPr>
        <p:txBody>
          <a:bodyPr/>
          <a:lstStyle/>
          <a:p>
            <a:endParaRPr lang="en-US"/>
          </a:p>
        </p:txBody>
      </p:sp>
      <p:sp>
        <p:nvSpPr>
          <p:cNvPr id="43" name="Arrow3"/>
          <p:cNvSpPr/>
          <p:nvPr/>
        </p:nvSpPr>
        <p:spPr>
          <a:xfrm>
            <a:off x="9138200" y="2200000"/>
            <a:ext cx="300000" cy="250000"/>
          </a:xfrm>
          <a:prstGeom prst="rightArrow">
            <a:avLst/>
          </a:prstGeom>
          <a:solidFill>
            <a:srgbClr val="C00000"/>
          </a:solidFill>
          <a:ln>
            <a:noFill/>
          </a:ln>
        </p:spPr>
        <p:txBody>
          <a:bodyPr/>
          <a:lstStyle/>
          <a:p>
            <a:endParaRPr lang="en-US"/>
          </a:p>
        </p:txBody>
      </p:sp>
      <p:sp>
        <p:nvSpPr>
          <p:cNvPr id="44" name="AgingNote"/>
          <p:cNvSpPr txBox="1"/>
          <p:nvPr/>
        </p:nvSpPr>
        <p:spPr>
          <a:xfrm>
            <a:off x="838200" y="4000000"/>
            <a:ext cx="10515600" cy="700000"/>
          </a:xfrm>
          <a:prstGeom prst="rect">
            <a:avLst/>
          </a:prstGeom>
          <a:noFill/>
        </p:spPr>
        <p:txBody>
          <a:bodyPr wrap="square">
            <a:normAutofit/>
          </a:bodyPr>
          <a:lstStyle/>
          <a:p>
            <a:pPr marL="285750" indent="-285750">
              <a:buFont typeface="Arial"/>
              <a:buChar char="•"/>
            </a:pPr>
            <a:r>
              <a:rPr lang="en-US" sz="1500" dirty="0"/>
              <a:t>Signals (SIGCONT/SIGSTOP via kill()) and pipes provide IPC between the scheduler and running processes for preemption and status reporting; the aging loop feeds priority updates back into the Ready Queue each scheduling cycle.</a:t>
            </a: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9/2/2026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2" name="Date Placeholder 1">
            <a:extLst>
              <a:ext uri="{FF2B5EF4-FFF2-40B4-BE49-F238E27FC236}">
                <a16:creationId xmlns:a16="http://schemas.microsoft.com/office/drawing/2014/main" id="{9D864234-7A34-7521-498A-DD3F6E491DB4}"/>
              </a:ext>
            </a:extLst>
          </p:cNvPr>
          <p:cNvSpPr>
            <a:spLocks noGrp="1"/>
          </p:cNvSpPr>
          <p:nvPr>
            <p:ph type="dt" sz="half" idx="10"/>
          </p:nvPr>
        </p:nvSpPr>
        <p:spPr/>
        <p:txBody>
          <a:bodyPr/>
          <a:lstStyle/>
          <a:p>
            <a:fld id="{76602186-ABE7-42AB-8003-2FA9F73CA34D}" type="datetime1">
              <a:rPr lang="en-US" smtClean="0"/>
              <a:t>9/2/2026</a:t>
            </a:fld>
            <a:endParaRPr lang="en-US"/>
          </a:p>
        </p:txBody>
      </p:sp>
      <p:sp>
        <p:nvSpPr>
          <p:cNvPr id="4" name="Slide Number Placeholder 3">
            <a:extLst>
              <a:ext uri="{FF2B5EF4-FFF2-40B4-BE49-F238E27FC236}">
                <a16:creationId xmlns:a16="http://schemas.microsoft.com/office/drawing/2014/main" id="{9A89A4F7-9EC8-2129-C8BB-C74E5E40CE1A}"/>
              </a:ext>
            </a:extLst>
          </p:cNvPr>
          <p:cNvSpPr>
            <a:spLocks noGrp="1"/>
          </p:cNvSpPr>
          <p:nvPr>
            <p:ph type="sldNum" sz="quarter" idx="12"/>
          </p:nvPr>
        </p:nvSpPr>
        <p:spPr/>
        <p:txBody>
          <a:bodyPr/>
          <a:lstStyle/>
          <a:p>
            <a:fld id="{7EED5C5B-9EF4-44F9-8A5E-F9CA765F3D63}"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Conclusion</a:t>
            </a:r>
            <a:endParaRPr lang="en-US" sz="2800" b="1" dirty="0">
              <a:solidFill>
                <a:schemeClr val="bg1"/>
              </a:solidFill>
            </a:endParaRPr>
          </a:p>
        </p:txBody>
      </p:sp>
      <p:sp>
        <p:nvSpPr>
          <p:cNvPr id="20" name="Conclusion Body"/>
          <p:cNvSpPr txBox="1"/>
          <p:nvPr/>
        </p:nvSpPr>
        <p:spPr>
          <a:xfrm>
            <a:off x="838200" y="1250000"/>
            <a:ext cx="10515600" cy="5000000"/>
          </a:xfrm>
          <a:prstGeom prst="rect">
            <a:avLst/>
          </a:prstGeom>
          <a:noFill/>
        </p:spPr>
        <p:txBody>
          <a:bodyPr wrap="square" rtlCol="0">
            <a:normAutofit/>
          </a:bodyPr>
          <a:lstStyle/>
          <a:p>
            <a:pPr algn="just"/>
            <a:r>
              <a:rPr lang="en-US" sz="2000" dirty="0"/>
              <a:t>The project successfully delivers a working command-line priority scheduler that manages real Linux processes rather than a simulated environment, offering a hands-on demonstration of genuine operating-system behavior. The aging mechanism proves effective in mitigating starvation, allowing low-priority processes to eventually execute while still preserving the core benefits of priority-based scheduling. Implementing the system using fork(), exec(), waitpid(), kill(), setpriority(), signals, and pipes reinforced a practical understanding of process management, synchronization, and inter-process communication at the system-programming level. The scheduling metrics computed by the system — waiting time, turnaround time, response time, CPU utilization, and context switches — provide a measurable basis for comparing scheduler performance with and without aging enabled. Looking ahead, the project could be extended with multi-level feedback queues, multi-core load balancing, and a graphical visualization of process states over time, further deepening its value as a teaching and research tool for operating-systems concepts.</a:t>
            </a: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9/2/2026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85</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       Operating system and system programming (25CS2104E)  PRIORITY SCHEDULING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lenovo</cp:lastModifiedBy>
  <cp:revision>24</cp:revision>
  <dcterms:created xsi:type="dcterms:W3CDTF">2026-08-31T05:18:20Z</dcterms:created>
  <dcterms:modified xsi:type="dcterms:W3CDTF">2026-09-02T03:12:53Z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